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189720" y="685800"/>
            <a:ext cx="1005840" cy="27432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685800"/>
            <a:ext cx="1097280" cy="54864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960120"/>
            <a:ext cx="365760" cy="100584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0" y="1965960"/>
            <a:ext cx="1097280" cy="36576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2331720"/>
            <a:ext cx="868680" cy="36576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915400" y="1965960"/>
            <a:ext cx="640080" cy="41148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95560" y="685800"/>
            <a:ext cx="457200" cy="164592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8572" y="918972"/>
            <a:ext cx="82296" cy="82296"/>
          </a:xfrm>
          <a:prstGeom prst="ellipse">
            <a:avLst/>
          </a:prstGeom>
          <a:solidFill>
            <a:srgbClr val="9C97F5"/>
          </a:solidFill>
          <a:ln/>
        </p:spPr>
      </p:sp>
      <p:sp>
        <p:nvSpPr>
          <p:cNvPr id="10" name="Shape 8"/>
          <p:cNvSpPr/>
          <p:nvPr/>
        </p:nvSpPr>
        <p:spPr>
          <a:xfrm>
            <a:off x="10154412" y="644652"/>
            <a:ext cx="82296" cy="82296"/>
          </a:xfrm>
          <a:prstGeom prst="ellipse">
            <a:avLst/>
          </a:prstGeom>
          <a:solidFill>
            <a:srgbClr val="9C97F5"/>
          </a:solidFill>
          <a:ln/>
        </p:spPr>
      </p:sp>
      <p:sp>
        <p:nvSpPr>
          <p:cNvPr id="11" name="Shape 9"/>
          <p:cNvSpPr/>
          <p:nvPr/>
        </p:nvSpPr>
        <p:spPr>
          <a:xfrm>
            <a:off x="11251692" y="1193292"/>
            <a:ext cx="82296" cy="82296"/>
          </a:xfrm>
          <a:prstGeom prst="ellipse">
            <a:avLst/>
          </a:prstGeom>
          <a:solidFill>
            <a:srgbClr val="9C9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9514332" y="1924812"/>
            <a:ext cx="82296" cy="82296"/>
          </a:xfrm>
          <a:prstGeom prst="ellipse">
            <a:avLst/>
          </a:prstGeom>
          <a:solidFill>
            <a:srgbClr val="9C9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11612" y="2290572"/>
            <a:ext cx="82296" cy="82296"/>
          </a:xfrm>
          <a:prstGeom prst="ellipse">
            <a:avLst/>
          </a:prstGeom>
          <a:solidFill>
            <a:srgbClr val="9C9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80292" y="2656332"/>
            <a:ext cx="82296" cy="82296"/>
          </a:xfrm>
          <a:prstGeom prst="ellipse">
            <a:avLst/>
          </a:prstGeom>
          <a:solidFill>
            <a:srgbClr val="9C9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874252" y="2336292"/>
            <a:ext cx="82296" cy="82296"/>
          </a:xfrm>
          <a:prstGeom prst="ellipse">
            <a:avLst/>
          </a:prstGeom>
          <a:solidFill>
            <a:srgbClr val="9C97F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COMERCIAL PARA PYMES Y DISTRIBUIDORAS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6517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</a:t>
            </a:r>
            <a:pPr indent="0" marL="0">
              <a:buNone/>
            </a:pPr>
            <a:r>
              <a:rPr lang="en-US" sz="9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20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Conectamos clientes, oportunidades y resultados.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comercial · Presentación privada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bien es difícil cuando no ves lo que pasa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pierden clientes en la mayoría de las PyMEs y distribuidoras hoy: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58568"/>
            <a:ext cx="566928" cy="566928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240030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que se enfrían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Vendedores sin alertas de seguimiento: un cliente queda meses sin que nadie lo llame.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58568"/>
            <a:ext cx="566928" cy="566928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412" y="240030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40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Cobranzas a ciegas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9260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mora se descubre tarde, sin saber cuánto se debe ni desde cuándo.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544568"/>
            <a:ext cx="566928" cy="566928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468630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526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visibilidad del gerente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60120" y="52120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sabe quién vende bien y quién se está quedando atrás hasta fin de mes.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251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544568"/>
            <a:ext cx="566928" cy="566928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412" y="468630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526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y memoria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83680" y="52120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vive en la cabeza del vendedor o en planillas sueltas, no en un sistema.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· 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conecta todo tu proceso comercial en un solo lugar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es un CRM pensado para cómo trabaja de verdad una PyME o distribuidora: vendedores en la calle, cobranzas que no pueden esperar, y un gerente que necesita saber qué está pasando sin tener que preguntar.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61772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EEF0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7548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login para vendedores y gerente, con la misma información siempre actualizada.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49240" y="160020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/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1856232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0780" y="201625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26517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Gerencial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08392" y="160020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/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39912" y="1856232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932" y="20162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26517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Ventas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0067544" y="160020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/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99064" y="1856232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084" y="201625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77272" y="26517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349240" y="37033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/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80760" y="3959352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411937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58968" y="47548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Cobranzas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708392" y="37033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/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439912" y="3959352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2" y="4119372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18120" y="47548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y Calendario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10067544" y="37033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/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799064" y="3959352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9084" y="4119372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177272" y="47548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· 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 para que el gerente vea todo de un vistazo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545336"/>
            <a:ext cx="82296" cy="8229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1545336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545336"/>
            <a:ext cx="82296" cy="82296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28216"/>
            <a:ext cx="5257800" cy="0"/>
          </a:xfrm>
          <a:prstGeom prst="line">
            <a:avLst/>
          </a:prstGeom>
          <a:noFill/>
          <a:ln w="9525">
            <a:solidFill>
              <a:srgbClr val="E3E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874520"/>
            <a:ext cx="1557528" cy="566928"/>
          </a:xfrm>
          <a:prstGeom prst="roundRect">
            <a:avLst>
              <a:gd name="adj" fmla="val 9677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141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$7.3M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90216" y="1874520"/>
            <a:ext cx="1557528" cy="566928"/>
          </a:xfrm>
          <a:prstGeom prst="roundRect">
            <a:avLst>
              <a:gd name="adj" fmla="val 9677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3368" y="1920240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3368" y="2103120"/>
            <a:ext cx="141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$23.6M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39184" y="1874520"/>
            <a:ext cx="1557528" cy="566928"/>
          </a:xfrm>
          <a:prstGeom prst="roundRect">
            <a:avLst>
              <a:gd name="adj" fmla="val 9677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4212336" y="1920240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12336" y="2103120"/>
            <a:ext cx="141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1248" y="2788920"/>
            <a:ext cx="824789" cy="502920"/>
          </a:xfrm>
          <a:prstGeom prst="roundRect">
            <a:avLst>
              <a:gd name="adj" fmla="val 5455"/>
            </a:avLst>
          </a:prstGeom>
          <a:solidFill>
            <a:srgbClr val="EEF0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2341" y="2560320"/>
            <a:ext cx="824789" cy="731520"/>
          </a:xfrm>
          <a:prstGeom prst="roundRect">
            <a:avLst>
              <a:gd name="adj" fmla="val 3750"/>
            </a:avLst>
          </a:prstGeom>
          <a:solidFill>
            <a:srgbClr val="EEF0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83434" y="2743200"/>
            <a:ext cx="824789" cy="54864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754526" y="2423160"/>
            <a:ext cx="824789" cy="868680"/>
          </a:xfrm>
          <a:prstGeom prst="roundRect">
            <a:avLst>
              <a:gd name="adj" fmla="val 3326"/>
            </a:avLst>
          </a:prstGeom>
          <a:solidFill>
            <a:srgbClr val="EEF0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25619" y="2240280"/>
            <a:ext cx="824789" cy="1051560"/>
          </a:xfrm>
          <a:prstGeom prst="roundRect">
            <a:avLst>
              <a:gd name="adj" fmla="val 3326"/>
            </a:avLst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404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Gerencial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4173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28232" y="1545336"/>
            <a:ext cx="82296" cy="8229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1112" y="1545336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6793992" y="1545336"/>
            <a:ext cx="82296" cy="82296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1728216"/>
            <a:ext cx="5257800" cy="0"/>
          </a:xfrm>
          <a:prstGeom prst="line">
            <a:avLst/>
          </a:prstGeom>
          <a:noFill/>
          <a:ln w="9525">
            <a:solidFill>
              <a:srgbClr val="E3E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64808" y="1874520"/>
            <a:ext cx="1557528" cy="1691640"/>
          </a:xfrm>
          <a:prstGeom prst="roundRect">
            <a:avLst>
              <a:gd name="adj" fmla="val 3523"/>
            </a:avLst>
          </a:prstGeom>
          <a:solidFill>
            <a:srgbClr val="F5F6FA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1929384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37960" y="2185416"/>
            <a:ext cx="14112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2249424"/>
            <a:ext cx="641604" cy="109728"/>
          </a:xfrm>
          <a:prstGeom prst="roundRect">
            <a:avLst>
              <a:gd name="adj" fmla="val 16667"/>
            </a:avLst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6537960" y="2752344"/>
            <a:ext cx="14112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01968" y="2816352"/>
            <a:ext cx="641604" cy="109728"/>
          </a:xfrm>
          <a:prstGeom prst="roundRect">
            <a:avLst>
              <a:gd name="adj" fmla="val 16667"/>
            </a:avLst>
          </a:prstGeom>
          <a:solidFill>
            <a:srgbClr val="94A3B8"/>
          </a:solidFill>
          <a:ln/>
        </p:spPr>
      </p:sp>
      <p:sp>
        <p:nvSpPr>
          <p:cNvPr id="34" name="Shape 32"/>
          <p:cNvSpPr/>
          <p:nvPr/>
        </p:nvSpPr>
        <p:spPr>
          <a:xfrm>
            <a:off x="8113776" y="1874520"/>
            <a:ext cx="1557528" cy="1691640"/>
          </a:xfrm>
          <a:prstGeom prst="roundRect">
            <a:avLst>
              <a:gd name="adj" fmla="val 3523"/>
            </a:avLst>
          </a:prstGeom>
          <a:solidFill>
            <a:srgbClr val="F5F6FA"/>
          </a:solidFill>
          <a:ln/>
        </p:spPr>
      </p:sp>
      <p:sp>
        <p:nvSpPr>
          <p:cNvPr id="35" name="Text 33"/>
          <p:cNvSpPr/>
          <p:nvPr/>
        </p:nvSpPr>
        <p:spPr>
          <a:xfrm>
            <a:off x="8186928" y="1929384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186928" y="2185416"/>
            <a:ext cx="14112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0936" y="2249424"/>
            <a:ext cx="641604" cy="10972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38" name="Shape 36"/>
          <p:cNvSpPr/>
          <p:nvPr/>
        </p:nvSpPr>
        <p:spPr>
          <a:xfrm>
            <a:off x="8186928" y="2752344"/>
            <a:ext cx="14112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50936" y="2816352"/>
            <a:ext cx="641604" cy="10972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40" name="Shape 38"/>
          <p:cNvSpPr/>
          <p:nvPr/>
        </p:nvSpPr>
        <p:spPr>
          <a:xfrm>
            <a:off x="9762744" y="1874520"/>
            <a:ext cx="1557528" cy="1691640"/>
          </a:xfrm>
          <a:prstGeom prst="roundRect">
            <a:avLst>
              <a:gd name="adj" fmla="val 3523"/>
            </a:avLst>
          </a:prstGeom>
          <a:solidFill>
            <a:srgbClr val="F5F6FA"/>
          </a:solidFill>
          <a:ln/>
        </p:spPr>
      </p:sp>
      <p:sp>
        <p:nvSpPr>
          <p:cNvPr id="41" name="Text 39"/>
          <p:cNvSpPr/>
          <p:nvPr/>
        </p:nvSpPr>
        <p:spPr>
          <a:xfrm>
            <a:off x="9835896" y="1929384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Negociación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835896" y="2185416"/>
            <a:ext cx="14112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99904" y="2249424"/>
            <a:ext cx="641604" cy="109728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44" name="Shape 42"/>
          <p:cNvSpPr/>
          <p:nvPr/>
        </p:nvSpPr>
        <p:spPr>
          <a:xfrm>
            <a:off x="9835896" y="2752344"/>
            <a:ext cx="14112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99904" y="2816352"/>
            <a:ext cx="641604" cy="109728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8404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Ventas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" y="42519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4672" y="4379976"/>
            <a:ext cx="82296" cy="8229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9" name="Shape 47"/>
          <p:cNvSpPr/>
          <p:nvPr/>
        </p:nvSpPr>
        <p:spPr>
          <a:xfrm>
            <a:off x="987552" y="4379976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0432" y="4379976"/>
            <a:ext cx="82296" cy="82296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51" name="Shape 49"/>
          <p:cNvSpPr/>
          <p:nvPr/>
        </p:nvSpPr>
        <p:spPr>
          <a:xfrm>
            <a:off x="640080" y="4562856"/>
            <a:ext cx="5257800" cy="0"/>
          </a:xfrm>
          <a:prstGeom prst="line">
            <a:avLst/>
          </a:prstGeom>
          <a:noFill/>
          <a:ln w="9525">
            <a:solidFill>
              <a:srgbClr val="E3E5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1248" y="4709160"/>
            <a:ext cx="4855464" cy="457200"/>
          </a:xfrm>
          <a:prstGeom prst="roundRect">
            <a:avLst>
              <a:gd name="adj" fmla="val 10000"/>
            </a:avLst>
          </a:prstGeom>
          <a:solidFill>
            <a:srgbClr val="FCE7EC"/>
          </a:solidFill>
          <a:ln/>
        </p:spPr>
      </p:sp>
      <p:sp>
        <p:nvSpPr>
          <p:cNvPr id="53" name="Text 51"/>
          <p:cNvSpPr/>
          <p:nvPr/>
        </p:nvSpPr>
        <p:spPr>
          <a:xfrm>
            <a:off x="969264" y="4709160"/>
            <a:ext cx="2670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Ferretería Del Centro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645152" y="481888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55" name="Text 53"/>
          <p:cNvSpPr/>
          <p:nvPr/>
        </p:nvSpPr>
        <p:spPr>
          <a:xfrm>
            <a:off x="4645152" y="4818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días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41248" y="5221224"/>
            <a:ext cx="4855464" cy="457200"/>
          </a:xfrm>
          <a:prstGeom prst="roundRect">
            <a:avLst>
              <a:gd name="adj" fmla="val 10000"/>
            </a:avLst>
          </a:prstGeom>
          <a:solidFill>
            <a:srgbClr val="FCE7EC"/>
          </a:solidFill>
          <a:ln/>
        </p:spPr>
      </p:sp>
      <p:sp>
        <p:nvSpPr>
          <p:cNvPr id="57" name="Text 55"/>
          <p:cNvSpPr/>
          <p:nvPr/>
        </p:nvSpPr>
        <p:spPr>
          <a:xfrm>
            <a:off x="969264" y="5221224"/>
            <a:ext cx="2670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Hogar &amp; Deco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45152" y="533095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59" name="Text 57"/>
          <p:cNvSpPr/>
          <p:nvPr/>
        </p:nvSpPr>
        <p:spPr>
          <a:xfrm>
            <a:off x="4645152" y="5330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días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41248" y="5733288"/>
            <a:ext cx="4855464" cy="457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/>
        </p:spPr>
      </p:sp>
      <p:sp>
        <p:nvSpPr>
          <p:cNvPr id="61" name="Text 59"/>
          <p:cNvSpPr/>
          <p:nvPr/>
        </p:nvSpPr>
        <p:spPr>
          <a:xfrm>
            <a:off x="969264" y="5733288"/>
            <a:ext cx="2670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Roca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645152" y="584301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9D6E"/>
          </a:solidFill>
          <a:ln/>
        </p:spPr>
      </p:sp>
      <p:sp>
        <p:nvSpPr>
          <p:cNvPr id="63" name="Text 61"/>
          <p:cNvSpPr/>
          <p:nvPr/>
        </p:nvSpPr>
        <p:spPr>
          <a:xfrm>
            <a:off x="4645152" y="5843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días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40080" y="63550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Cobranzas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263640" y="42519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28232" y="4379976"/>
            <a:ext cx="82296" cy="8229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7" name="Shape 65"/>
          <p:cNvSpPr/>
          <p:nvPr/>
        </p:nvSpPr>
        <p:spPr>
          <a:xfrm>
            <a:off x="6611112" y="4379976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8" name="Shape 66"/>
          <p:cNvSpPr/>
          <p:nvPr/>
        </p:nvSpPr>
        <p:spPr>
          <a:xfrm>
            <a:off x="6793992" y="4379976"/>
            <a:ext cx="82296" cy="82296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69" name="Shape 67"/>
          <p:cNvSpPr/>
          <p:nvPr/>
        </p:nvSpPr>
        <p:spPr>
          <a:xfrm>
            <a:off x="6263640" y="4562856"/>
            <a:ext cx="5257800" cy="0"/>
          </a:xfrm>
          <a:prstGeom prst="line">
            <a:avLst/>
          </a:prstGeom>
          <a:noFill/>
          <a:ln w="9525">
            <a:solidFill>
              <a:srgbClr val="E3E5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64808" y="470916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1" name="Shape 69"/>
          <p:cNvSpPr/>
          <p:nvPr/>
        </p:nvSpPr>
        <p:spPr>
          <a:xfrm>
            <a:off x="6464808" y="5181600"/>
            <a:ext cx="772668" cy="435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2" name="Shape 70"/>
          <p:cNvSpPr/>
          <p:nvPr/>
        </p:nvSpPr>
        <p:spPr>
          <a:xfrm>
            <a:off x="6464808" y="565404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3" name="Shape 71"/>
          <p:cNvSpPr/>
          <p:nvPr/>
        </p:nvSpPr>
        <p:spPr>
          <a:xfrm>
            <a:off x="7274052" y="470916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4" name="Shape 72"/>
          <p:cNvSpPr/>
          <p:nvPr/>
        </p:nvSpPr>
        <p:spPr>
          <a:xfrm>
            <a:off x="7274052" y="518160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5" name="Shape 73"/>
          <p:cNvSpPr/>
          <p:nvPr/>
        </p:nvSpPr>
        <p:spPr>
          <a:xfrm>
            <a:off x="7274052" y="5654040"/>
            <a:ext cx="772668" cy="4358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76" name="Shape 74"/>
          <p:cNvSpPr/>
          <p:nvPr/>
        </p:nvSpPr>
        <p:spPr>
          <a:xfrm>
            <a:off x="8083296" y="4709160"/>
            <a:ext cx="772668" cy="4358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77" name="Shape 75"/>
          <p:cNvSpPr/>
          <p:nvPr/>
        </p:nvSpPr>
        <p:spPr>
          <a:xfrm>
            <a:off x="8083296" y="518160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8" name="Shape 76"/>
          <p:cNvSpPr/>
          <p:nvPr/>
        </p:nvSpPr>
        <p:spPr>
          <a:xfrm>
            <a:off x="8083296" y="565404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9" name="Shape 77"/>
          <p:cNvSpPr/>
          <p:nvPr/>
        </p:nvSpPr>
        <p:spPr>
          <a:xfrm>
            <a:off x="8892540" y="4709160"/>
            <a:ext cx="772668" cy="435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0" name="Shape 78"/>
          <p:cNvSpPr/>
          <p:nvPr/>
        </p:nvSpPr>
        <p:spPr>
          <a:xfrm>
            <a:off x="8892540" y="518160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1" name="Shape 79"/>
          <p:cNvSpPr/>
          <p:nvPr/>
        </p:nvSpPr>
        <p:spPr>
          <a:xfrm>
            <a:off x="8892540" y="565404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2" name="Shape 80"/>
          <p:cNvSpPr/>
          <p:nvPr/>
        </p:nvSpPr>
        <p:spPr>
          <a:xfrm>
            <a:off x="9701784" y="470916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3" name="Shape 81"/>
          <p:cNvSpPr/>
          <p:nvPr/>
        </p:nvSpPr>
        <p:spPr>
          <a:xfrm>
            <a:off x="9701784" y="5181600"/>
            <a:ext cx="772668" cy="4358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84" name="Shape 82"/>
          <p:cNvSpPr/>
          <p:nvPr/>
        </p:nvSpPr>
        <p:spPr>
          <a:xfrm>
            <a:off x="9701784" y="565404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5" name="Shape 83"/>
          <p:cNvSpPr/>
          <p:nvPr/>
        </p:nvSpPr>
        <p:spPr>
          <a:xfrm>
            <a:off x="10511028" y="470916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6" name="Shape 84"/>
          <p:cNvSpPr/>
          <p:nvPr/>
        </p:nvSpPr>
        <p:spPr>
          <a:xfrm>
            <a:off x="10511028" y="518160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7" name="Shape 85"/>
          <p:cNvSpPr/>
          <p:nvPr/>
        </p:nvSpPr>
        <p:spPr>
          <a:xfrm>
            <a:off x="10511028" y="5654040"/>
            <a:ext cx="772668" cy="43586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8" name="Text 86"/>
          <p:cNvSpPr/>
          <p:nvPr/>
        </p:nvSpPr>
        <p:spPr>
          <a:xfrm>
            <a:off x="6263640" y="63550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semanal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vas a encontrar en una planilla de cálculo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14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automáticas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"Sin contacto vencido" y clientes en mora salen a la luz solos, sin que nadie tenga que acordarse.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60020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514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cruzada por cliente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17720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dice qué líneas no le vendés todavía a cada cliente, para llamarlo y ofrecérselas.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60020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011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514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80/20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21040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Sabés en un click quiénes son los clientes, líneas y SKU que sostienen tu facturación.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16052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5720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5074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semanal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4400" y="5577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 toda la semana del equipo, lo gestionado y lo pendiente, de un solo vistazo.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43400" y="416052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4434840"/>
            <a:ext cx="548640" cy="548640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5720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5074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Gerencial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617720" y="5577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del equipo, proyección de cierre y evolución mensual, sin pedirle nada a nadie.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416052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21040" y="4434840"/>
            <a:ext cx="548640" cy="548640"/>
          </a:xfrm>
          <a:prstGeom prst="ellipse">
            <a:avLst/>
          </a:prstGeom>
          <a:solidFill>
            <a:srgbClr val="EEF0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5720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21040" y="5074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Faro: prioridad automática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321040" y="5577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 tu cartera por un puntaje de 0 a 100 que combina caída de venta, mora y días sin contacto: sabés a quién llamar primero sin adivinar.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· 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para tu empresa?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para vos si...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329184" cy="329184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86" y="2542946"/>
            <a:ext cx="181051" cy="1810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140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Tenés 3 o más vendedores en la calle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0120" y="3090672"/>
            <a:ext cx="329184" cy="329184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86" y="3164738"/>
            <a:ext cx="181051" cy="1810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358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cartera compra distintas líneas o categorías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60120" y="3712464"/>
            <a:ext cx="329184" cy="329184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86" y="3786530"/>
            <a:ext cx="181051" cy="1810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657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cobranza pesa tanto como la venta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60120" y="4334256"/>
            <a:ext cx="329184" cy="329184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86" y="4408322"/>
            <a:ext cx="181051" cy="18105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2793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usás Excel, WhatsApp y memoria para todo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60120" y="4956048"/>
            <a:ext cx="329184" cy="329184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" y="5030114"/>
            <a:ext cx="181051" cy="1810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90118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Querés que el gerente sepa qué pasa sin preguntar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3077"/>
            </a:avLst>
          </a:prstGeom>
          <a:solidFill>
            <a:srgbClr val="FAFAFC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58368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Todavía no, si...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6583680" y="2468880"/>
            <a:ext cx="329184" cy="329184"/>
          </a:xfrm>
          <a:prstGeom prst="ellipse">
            <a:avLst/>
          </a:prstGeom>
          <a:solidFill>
            <a:srgbClr val="ECEDF2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2551176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40880" y="24140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un solo vendedor sin equipo que gestionar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583680" y="3090672"/>
            <a:ext cx="329184" cy="329184"/>
          </a:xfrm>
          <a:prstGeom prst="ellipse">
            <a:avLst/>
          </a:prstGeom>
          <a:solidFill>
            <a:srgbClr val="ECEDF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3172968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40880" y="30358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manejás cuentas corrientes ni cobranzas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583680" y="3712464"/>
            <a:ext cx="329184" cy="329184"/>
          </a:xfrm>
          <a:prstGeom prst="ellipse">
            <a:avLst/>
          </a:prstGeom>
          <a:solidFill>
            <a:srgbClr val="ECEDF2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976" y="3794760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40880" y="3657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volumen de clientes entra en una libreta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· 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precio simple, pensado para tu equipo completo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empresa, no por usuario · las mismas funciones en los dos planes · sin permanencia anual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1B1D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FUNDADOR · QUEDAN 7 DE 10 CUPOS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2404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29</a:t>
            </a:r>
            <a:pPr indent="0" marL="0">
              <a:buNone/>
            </a:pPr>
            <a:r>
              <a:rPr lang="en-US" sz="14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empresa · hasta 5 usuarios · congelado de por vida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5120640" cy="2331720"/>
          </a:xfrm>
          <a:prstGeom prst="roundRect">
            <a:avLst>
              <a:gd name="adj" fmla="val 5490"/>
            </a:avLst>
          </a:prstGeom>
          <a:solidFill>
            <a:srgbClr val="FAFAFC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9202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CLIENTE N.º 11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63640" y="2404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49</a:t>
            </a:r>
            <a:pPr indent="0" marL="0">
              <a:buNone/>
            </a:pPr>
            <a:r>
              <a:rPr lang="en-US" sz="140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/mes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636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empresa · hasta 5 usuarios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EN LOS DOS PLANES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45152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" y="4689043"/>
            <a:ext cx="131674" cy="1316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9264" y="4581144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Faro: prioriza cuentas y avisa por WhatsApp a quién llamar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28160" y="4645152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051" y="4689043"/>
            <a:ext cx="131674" cy="1316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57344" y="4581144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con proyección de cierre y avance vs. objetivo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16240" y="4645152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131" y="4689043"/>
            <a:ext cx="131674" cy="1316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45424" y="4581144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Gerencial: ranking del equipo y evolución mensual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5065776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" y="5109667"/>
            <a:ext cx="131674" cy="13167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9264" y="5001768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ventas con score de prioridad automático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328160" y="5065776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051" y="5109667"/>
            <a:ext cx="131674" cy="13167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57344" y="5001768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de clientes con cobertura de líneas y venta cruzada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016240" y="5065776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131" y="5109667"/>
            <a:ext cx="131674" cy="13167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45424" y="5001768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líneas y SKU con regla 80/20 y ranking A/B/C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40080" y="5486400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971" y="5530291"/>
            <a:ext cx="131674" cy="13167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69264" y="5422392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y calendario semanal en tiempo real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328160" y="5486400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2051" y="5530291"/>
            <a:ext cx="131674" cy="13167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657344" y="5422392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Cobranzas con alerta automática de mora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8016240" y="5486400"/>
            <a:ext cx="219456" cy="219456"/>
          </a:xfrm>
          <a:prstGeom prst="ellipse">
            <a:avLst/>
          </a:prstGeom>
          <a:solidFill>
            <a:srgbClr val="E3F6EE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0131" y="5530291"/>
            <a:ext cx="131674" cy="13167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345424" y="5422392"/>
            <a:ext cx="317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comerciales y ranking de descuentos por cliente</a:t>
            </a:r>
            <a:endParaRPr lang="en-US" sz="1000" dirty="0"/>
          </a:p>
        </p:txBody>
      </p:sp>
      <p:sp>
        <p:nvSpPr>
          <p:cNvPr id="44" name="Text 3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· 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Empecemos con una demo en vivo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4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minutos para mostrarte Nexo funcionando con datos reales de tu rubro.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Vemos el demo juntos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4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muestro Nexo andando, con tus propios rubros y ejemplos.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21488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Cargamos tus datos reales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200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4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Migramos tu cartera de clientes y tu equipo de venta.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1488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equipo empieza a usarlo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200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4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Vendedores y gerente, operando desde el primer día.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10515600" cy="1691640"/>
          </a:xfrm>
          <a:prstGeom prst="roundRect">
            <a:avLst>
              <a:gd name="adj" fmla="val 7568"/>
            </a:avLst>
          </a:prstGeom>
          <a:solidFill>
            <a:srgbClr val="1C1E2B"/>
          </a:solidFill>
          <a:ln w="12700">
            <a:solidFill>
              <a:srgbClr val="2A2C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5262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468630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01168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[Tu nombre]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011680" y="4892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4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+54 9 221 438-1170   ·   Email: [tu@email.com]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011680" y="5257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9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fundador válido para los primeros 10 clientes.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· 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2026-08-10T18:55:22Z</dcterms:created>
  <dcterms:modified xsi:type="dcterms:W3CDTF">2026-08-10T18:55:22Z</dcterms:modified>
</cp:coreProperties>
</file>